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54680"/>
            <a:ext cx="12191695" cy="7315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ಕನ್ನಡ ಲಿಪಿ ಮಿತ್ರ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990"/>
              </a:spcAft>
            </a:pPr>
            <a:r>
              <a:rPr sz="2200" b="0">
                <a:solidFill>
                  <a:srgbClr val="FFB300"/>
                </a:solidFill>
                <a:latin typeface="Segoe UI"/>
              </a:rPr>
              <a:t>Kannada Lipi Mitra — Kannada Document AI &amp; High-Fidelity OCR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765"/>
              </a:spcAft>
            </a:pPr>
            <a:r>
              <a:rPr sz="1700" b="0">
                <a:solidFill>
                  <a:srgbClr val="FFFFFF"/>
                </a:solidFill>
                <a:latin typeface="Segoe UI"/>
              </a:rPr>
              <a:t>Turns Kannada document images into searchable, understandable, speakable digital text</a:t>
            </a:r>
          </a:p>
          <a:p>
            <a:pPr algn="ctr">
              <a:lnSpc>
                <a:spcPct val="100000"/>
              </a:lnSpc>
              <a:spcAft>
                <a:spcPts val="765"/>
              </a:spcAft>
            </a:pPr>
            <a:r>
              <a:rPr sz="1700" b="0">
                <a:solidFill>
                  <a:srgbClr val="FFFFFF"/>
                </a:solidFill>
                <a:latin typeface="Segoe UI"/>
              </a:rPr>
              <a:t>Problem Statement 05 · Kannada Text Digitization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B8C0D0"/>
                </a:solidFill>
                <a:latin typeface="Segoe UI"/>
              </a:rPr>
              <a:t>Participant: Ritika Bhati · github.com/Ritika-Bhati-2266/Kannada-Text-Digitization</a:t>
            </a:r>
          </a:p>
          <a:p>
            <a:pPr algn="ctr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B8C0D0"/>
                </a:solidFill>
                <a:latin typeface="Segoe UI"/>
              </a:rPr>
              <a:t>Kannada Digital Innovation Hackathon 2026 · Theme: Code. Create. Celebrate Kannada.</a:t>
            </a:r>
          </a:p>
          <a:p>
            <a:pPr algn="ctr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B8C0D0"/>
                </a:solidFill>
                <a:latin typeface="Segoe UI"/>
              </a:rPr>
              <a:t>Organized by HackerRank Campus Crew &amp; The National Institute of Engineering (NIE), Mysuru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Problem Statement — PS-05: Kannada Text Digitization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5A6472"/>
                </a:solidFill>
                <a:latin typeface="Segoe UI"/>
              </a:rPr>
              <a:t>The assignment: convert Kannada text from images, scanned documents or handwritten material into searchable digital text — and make it easier to understand and access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11064240" cy="1051560"/>
          </a:xfrm>
          <a:prstGeom prst="roundRect">
            <a:avLst/>
          </a:prstGeom>
          <a:solidFill>
            <a:srgbClr val="F5F6FA"/>
          </a:solidFill>
          <a:ln w="1587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1A233B"/>
                </a:solidFill>
                <a:latin typeface="Segoe UI"/>
              </a:rPr>
              <a:t>"Develop a solution that converts Kannada text from images, scanned documents, or handwritten material into searchable digital text and makes the content easier to understand and access."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Who is affected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Students &amp; researchers — textbook pages locked inside scans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Citizens — govt. circulars, notices, land &amp; health records on paper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Visually impaired users — no search, no screen reader, no speech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Archives &amp; museums — heritage manuscripts never digitized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9260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4747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Kannada is spoken by 40M+ people — content must be digital to be accessed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Paper documents are invisible to search, translation &amp; assistive tech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Scale: thousands of pages exist only as photos and scans today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Every un-digitized document is language heritage at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Existing Systems &amp; Their Gaps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291840" cy="4572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Existing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417320"/>
            <a:ext cx="2926080" cy="4572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Strength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417320"/>
            <a:ext cx="466344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Gap / limitation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Traditional OCR
(Tesseract + kan data)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1965960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Cheap &amp; offline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965960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Fails on modern scans &amp; mixed Kannada-English; silent garbage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53512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General cloud OCR
(Google Vision, Textract)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0" y="2953512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Mature platforms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953512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Weak Indic-script accuracy; pay-per-call; no Kannada validation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41064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Manual transcription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3941064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Accurate 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3941064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Slow, costly, impossible at archive scale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28616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Static PDF text layers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4928616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Searchable if present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4928616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Useless for photos &amp; image-only scans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943600"/>
            <a:ext cx="11064240" cy="41148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A233B"/>
                </a:solidFill>
                <a:latin typeface="Segoe UI"/>
              </a:rPr>
              <a:t>Common gap: nobody verifies the output is actually Kannada — and nobody helps you understand the text afterwards.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How Our Solution Is Different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46304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53619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Offline-first, two engines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0195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One OCR Manager routes to offline Tesseract (default) or the optional Groq vision model — pick via the header dropdown. No API key needed: Tesseract runs end to end offline.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265176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249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Script-distribution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Post-extraction Unicode analysis (Kannada / Devanagari / Latin shares) on every result; on the Groq path, a wrong-script answer triggers one targeted retry — a class of silent failure raw OCR never reports.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84048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136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Images, PDFs &amp; samples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2793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Upload, drag-drop, camera capture or multi-page PDF (page-wise OCR with per-page markers); plus four sample documents — sample 4 is simulated handwriting generated by script, not real handwriting.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502920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1023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Understand + hear, not just extract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46811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One-click translation to English/Hindi (needs the optional Groq key; the UI says so plainly when it's missing) and authentic Kannada text-to-speech — plus in-text search, editable text, copy / TXT / print-to-PDF.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Approach — Methodology &amp;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2606040" cy="9144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Input
image · camera · PDF · samples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00400" y="1819656"/>
            <a:ext cx="411480" cy="201168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606040" cy="91440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FastAPI
/api/ocr endpoint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126480" y="1819656"/>
            <a:ext cx="411480" cy="201168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5080" y="1463040"/>
            <a:ext cx="2606040" cy="9144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UnifiedOCRManager
engine selection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052560" y="1819656"/>
            <a:ext cx="411480" cy="201168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281160" y="1463040"/>
            <a:ext cx="2606040" cy="9144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OCR engine
tesseract (default) | groq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9320" y="2468880"/>
            <a:ext cx="201168" cy="36576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926080"/>
            <a:ext cx="5029200" cy="86868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A233B"/>
                </a:solidFill>
                <a:latin typeface="Segoe UI"/>
              </a:rPr>
              <a:t>Script-distribution check (both engines)
Groq path only: issue? one smart retry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9320" y="3840480"/>
            <a:ext cx="201168" cy="36576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4297680"/>
            <a:ext cx="5029200" cy="7315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{ text · word/char counts · script stats · engine used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5303520"/>
            <a:ext cx="3108960" cy="9601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Editable pane
search + highlight
copy · TXT · print/PDF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5303520"/>
            <a:ext cx="3108960" cy="9601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Translate API
Kannada → EN / HI
needs optional Groq key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5303520"/>
            <a:ext cx="3108960" cy="9601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TTS API
Kannada speech
gTTS fallback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95"/>
              </a:spcAft>
            </a:pPr>
            <a:r>
              <a:rPr sz="1100" b="0">
                <a:solidFill>
                  <a:srgbClr val="5A6472"/>
                </a:solidFill>
                <a:latin typeface="Segoe UI"/>
              </a:rPr>
              <a:t>Design decisions: manager pattern (engine = config) · deterministic Unicode validation · Groq path adds retry + Tesseract cross-check · same-origin 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Tech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697480" cy="5486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Frontend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Vanilla JS (ES modules)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HTML5 · CSS3 · responsive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Vite 6 build tooling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Web Speech API (TTS)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2697480" cy="5486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Python 3.12 · FastAPI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Uvicorn · Pydantic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Pillow · OpenCV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gTTS (lang='kn')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2697480" cy="54864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AI Engines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Tesseract + OpenCV (offline, default)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Groq open vision LLM (optional)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Script stats + user warnings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Groq path: smart retry + cross-check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Translation needs optional Groq key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2697480" cy="54864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DevOps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Render Docker runtime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Dockerfile: Tesseract + tesseract-ocr-kan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multi-stage: Node build → Python image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env-var secrets (never committed)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GitHub · Swagger /docs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064240" cy="59436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FFB300"/>
                </a:solidFill>
                <a:latin typeface="Segoe UI"/>
              </a:rPr>
              <a:t>One repository · one deployment · runs with API keys OR fully offline on Tesseract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Architecture — Components &amp; Data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10515600" cy="1051560"/>
          </a:xfrm>
          <a:prstGeom prst="roundRect">
            <a:avLst/>
          </a:prstGeom>
          <a:solidFill>
            <a:srgbClr val="F5F6FA"/>
          </a:solidFill>
          <a:ln w="15875">
            <a:solidFill>
              <a:srgbClr val="1A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5361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1">
                <a:solidFill>
                  <a:srgbClr val="1A233B"/>
                </a:solidFill>
                <a:latin typeface="Segoe UI"/>
              </a:rPr>
              <a:t>Browser — Split-view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40"/>
              </a:spcAft>
            </a:pPr>
            <a:r>
              <a:rPr sz="1200" b="0">
                <a:solidFill>
                  <a:srgbClr val="242B3D"/>
                </a:solidFill>
                <a:latin typeface="Segoe UI"/>
              </a:rPr>
              <a:t>image upload | camera capture | multi-page PDF (page-wise) | sample docs  →  edit · search · translate · TTS · export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43600" y="2606040"/>
            <a:ext cx="201168" cy="32004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26334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95"/>
              </a:spcAft>
            </a:pPr>
            <a:r>
              <a:rPr sz="1100" b="0">
                <a:solidFill>
                  <a:srgbClr val="5A6472"/>
                </a:solidFill>
                <a:latin typeface="Segoe UI"/>
              </a:rPr>
              <a:t>REST: /api/ocr · /api/translate · /api/tts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017520"/>
            <a:ext cx="7589520" cy="64008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FastAPI (main.py) — API endpoints + serves built frontend (same origin)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43600" y="3749039"/>
            <a:ext cx="201168" cy="32004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4160520"/>
            <a:ext cx="7589520" cy="6400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UnifiedOCRManager — engine selection &amp; readiness checks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5074920"/>
            <a:ext cx="2651760" cy="868680"/>
          </a:xfrm>
          <a:prstGeom prst="roundRect">
            <a:avLst/>
          </a:prstGeom>
          <a:solidFill>
            <a:srgbClr val="5A64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Tesseract + OpenCV
offline OCR (default)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074920"/>
            <a:ext cx="2651760" cy="868680"/>
          </a:xfrm>
          <a:prstGeom prst="roundRect">
            <a:avLst/>
          </a:prstGeom>
          <a:solidFill>
            <a:srgbClr val="027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Groq
open vision LLM (optional)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43600" y="5989320"/>
            <a:ext cx="201168" cy="27432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6035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40"/>
              </a:spcAft>
            </a:pPr>
            <a:r>
              <a:rPr sz="1200" b="1">
                <a:solidFill>
                  <a:srgbClr val="1A233B"/>
                </a:solidFill>
                <a:latin typeface="Segoe UI"/>
              </a:rPr>
              <a:t>script stats + warnings · Groq path: retry + cross-check · translation (optional key) · gTTS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Measured Accuracy — CER from compare_engines.py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5A6472"/>
                </a:solidFill>
                <a:latin typeface="Segoe UI"/>
              </a:rPr>
              <a:t>Character error rate vs ground-truth text (lower is better, 0.00% = exact) · reproduce: python backend/compare_engines.py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383280" cy="4572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1554480"/>
            <a:ext cx="2468880" cy="457200"/>
          </a:xfrm>
          <a:prstGeom prst="roundRect">
            <a:avLst/>
          </a:prstGeom>
          <a:solidFill>
            <a:srgbClr val="027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Groq (vision LLM)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554480"/>
            <a:ext cx="2468880" cy="457200"/>
          </a:xfrm>
          <a:prstGeom prst="roundRect">
            <a:avLst/>
          </a:prstGeom>
          <a:solidFill>
            <a:srgbClr val="5A64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Tesseract psm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40" y="1554480"/>
            <a:ext cx="260604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Tesseract psm 6 (default)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383280" cy="566928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1">
                <a:solidFill>
                  <a:srgbClr val="1A233B"/>
                </a:solidFill>
                <a:latin typeface="Segoe UI"/>
              </a:rPr>
              <a:t>sample_circular.png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103120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52.35%  (48.9s)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103120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20.75%  (0.84s)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2103120"/>
            <a:ext cx="260604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20.51%  (0.66s)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61488"/>
            <a:ext cx="3383280" cy="566928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1">
                <a:solidFill>
                  <a:srgbClr val="1A233B"/>
                </a:solidFill>
                <a:latin typeface="Segoe UI"/>
              </a:rPr>
              <a:t>sample_handwriting.png (simulated)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2761488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35.29%  (20.9s)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761488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13.24%  (0.35s)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2761488"/>
            <a:ext cx="260604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13.97%  (0.28s)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19856"/>
            <a:ext cx="3383280" cy="566928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1">
                <a:solidFill>
                  <a:srgbClr val="1A233B"/>
                </a:solidFill>
                <a:latin typeface="Segoe UI"/>
              </a:rPr>
              <a:t>sample_notice.png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3419856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50.27%  (99.5s)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419856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23.38%  (0.71s)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419856"/>
            <a:ext cx="260604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22.16%  (2.60s)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78224"/>
            <a:ext cx="3383280" cy="566928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1">
                <a:solidFill>
                  <a:srgbClr val="1A233B"/>
                </a:solidFill>
                <a:latin typeface="Segoe UI"/>
              </a:rPr>
              <a:t>sample_textbook.png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4078224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C62828"/>
                </a:solidFill>
                <a:latin typeface="Segoe UI"/>
              </a:rPr>
              <a:t>rate-limited  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4078224"/>
            <a:ext cx="246888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17.62%  (0.94s)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4078224"/>
            <a:ext cx="260604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0">
                <a:solidFill>
                  <a:srgbClr val="242B3D"/>
                </a:solidFill>
                <a:latin typeface="Segoe UI"/>
              </a:rPr>
              <a:t>16.25%  (0.92s)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937760"/>
            <a:ext cx="11064240" cy="1143000"/>
          </a:xfrm>
          <a:prstGeom prst="roundRect">
            <a:avLst/>
          </a:prstGeom>
          <a:solidFill>
            <a:srgbClr val="FDECEC"/>
          </a:solidFill>
          <a:ln w="1587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0">
                <a:solidFill>
                  <a:srgbClr val="1A233B"/>
                </a:solidFill>
                <a:latin typeface="Segoe UI"/>
              </a:rPr>
              <a:t>Groq varies run to run and free-tier rate limits can fail a call outright (textbook row above). On these samples the offline default is both more accurate and ~30× faster — that's why Tesseract is the default and Groq stays optional. Both are one dropdown apart; compare on your own documents.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Conclusion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Any Kannada document image becomes text you can search, edit, hear, translate and share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Handles images and multi-page PDFs, plus an honestly-labelled simulated handwriting sample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Groq-path validation (script retry + Tesseract cross-check) flags silent failures raw OCR never reports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Offline-first core runs with zero API keys; an optional Groq key adds the vision LLM and translation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Directly fulfils PS-05: searchable digital text + easier to understand and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348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Batch PDF ingestion with page-wise OCR and bulk export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Real handwriting recognition research (today's demo sample is simulated)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Kannada → Latin transliteration and dual-script reading mode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Screen-reader-optimized accessibility mode for low-vision 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97880"/>
            <a:ext cx="11064240" cy="5029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B300"/>
                </a:solidFill>
                <a:latin typeface="Segoe UI"/>
              </a:rPr>
              <a:t>Code. Create. Celebrate Kannada.  ·  ಧನ್ಯವಾದಗಳು  ·  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