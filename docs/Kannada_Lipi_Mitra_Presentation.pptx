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54680"/>
            <a:ext cx="12191695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243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ಕನ್ನಡ ಲಿಪಿ ಮಿತ್ರ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990"/>
              </a:spcAft>
            </a:pPr>
            <a:r>
              <a:rPr sz="2200" b="0">
                <a:solidFill>
                  <a:srgbClr val="FFB300"/>
                </a:solidFill>
                <a:latin typeface="Segoe UI"/>
              </a:rPr>
              <a:t>Kannada Lipi Mitra — Kannada Document AI &amp; High-Fidelity OCR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765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Turns Kannada document images into searchable, understandable, speakable digital text</a:t>
            </a:r>
          </a:p>
          <a:p>
            <a:pPr algn="ctr">
              <a:lnSpc>
                <a:spcPct val="100000"/>
              </a:lnSpc>
              <a:spcAft>
                <a:spcPts val="765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Problem Statement 05 · Kannada Text Digitization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585"/>
              </a:spcAft>
            </a:pPr>
            <a:r>
              <a:rPr sz="1300" b="0">
                <a:solidFill>
                  <a:srgbClr val="B8C0D0"/>
                </a:solidFill>
                <a:latin typeface="Segoe UI"/>
              </a:rPr>
              <a:t>Kannada Digital Innovation Hackathon 2026 · Theme: Code. Create. Celebrate Kannada.</a:t>
            </a:r>
          </a:p>
          <a:p>
            <a:pPr algn="ctr">
              <a:lnSpc>
                <a:spcPct val="100000"/>
              </a:lnSpc>
              <a:spcAft>
                <a:spcPts val="585"/>
              </a:spcAft>
            </a:pPr>
            <a:r>
              <a:rPr sz="1300" b="0">
                <a:solidFill>
                  <a:srgbClr val="B8C0D0"/>
                </a:solidFill>
                <a:latin typeface="Segoe UI"/>
              </a:rPr>
              <a:t>Organized by HackerRank Campus Crew &amp; The National Institute of Engineering (NIE), Mysuru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40"/>
              </a:spcAft>
            </a:pPr>
            <a:r>
              <a:rPr sz="3200" b="1">
                <a:solidFill>
                  <a:srgbClr val="1A233B"/>
                </a:solidFill>
                <a:latin typeface="Segoe UI"/>
              </a:rPr>
              <a:t>Problem Statement — PS-05: Kannada Text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5A6472"/>
                </a:solidFill>
                <a:latin typeface="Segoe UI"/>
              </a:rPr>
              <a:t>Convert Kannada text from images, scans or handwriting into searchable digital text — and make it easier to understand and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105156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0">
                <a:solidFill>
                  <a:srgbClr val="1A233B"/>
                </a:solidFill>
                <a:latin typeface="Segoe UI"/>
              </a:rPr>
              <a:t>"Develop a solution that converts Kannada text from images, scanned documents, or handwritten material into searchable digital text and makes the content easier to understand and access."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2000" b="1">
                <a:solidFill>
                  <a:srgbClr val="C62828"/>
                </a:solidFill>
                <a:latin typeface="Segoe UI"/>
              </a:rPr>
              <a:t>Who is affected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Students &amp; researchers — textbook pages locked inside scans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Citizens — govt. circulars, notices, land &amp; health records on paper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Visually impaired users — no search, no screen reader, no speech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Archives &amp; museums — heritage manuscripts never digitized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926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2000" b="1">
                <a:solidFill>
                  <a:srgbClr val="C62828"/>
                </a:solidFill>
                <a:latin typeface="Segoe U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4747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Kannada is spoken by 40M+ people — content must be digital to be accessed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Paper documents are invisible to search, translation &amp; assistive tech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Scale: thousands of pages exist only as photos and scans today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Every un-digitized document is language heritage 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ಕನ್ನಡ ಲಿಪಿ ಮಿತ್ರ · Kannada Digital Innovation Hackathon 2026 · PS-05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40"/>
              </a:spcAft>
            </a:pPr>
            <a:r>
              <a:rPr sz="3200" b="1">
                <a:solidFill>
                  <a:srgbClr val="1A233B"/>
                </a:solidFill>
                <a:latin typeface="Segoe UI"/>
              </a:rPr>
              <a:t>Existing Systems &amp; Their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291840" cy="457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Existing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417320"/>
            <a:ext cx="2926080" cy="457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Strength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46634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Gap / limitation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291840" cy="8686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1">
                <a:solidFill>
                  <a:srgbClr val="1A233B"/>
                </a:solidFill>
                <a:latin typeface="Segoe UI"/>
              </a:rPr>
              <a:t>Traditional OCR
(Tesseract + kann 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965960"/>
            <a:ext cx="29260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0">
                <a:solidFill>
                  <a:srgbClr val="5A6472"/>
                </a:solidFill>
                <a:latin typeface="Segoe UI"/>
              </a:rPr>
              <a:t>Cheap &amp; offline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965960"/>
            <a:ext cx="4663440" cy="86868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0">
                <a:solidFill>
                  <a:srgbClr val="C62828"/>
                </a:solidFill>
                <a:latin typeface="Segoe UI"/>
              </a:rPr>
              <a:t>Fails on modern scans &amp; mixed Kannada-English; silent garbage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53512"/>
            <a:ext cx="3291840" cy="8686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1">
                <a:solidFill>
                  <a:srgbClr val="1A233B"/>
                </a:solidFill>
                <a:latin typeface="Segoe UI"/>
              </a:rPr>
              <a:t>General cloud OCR
(Google Vision, Textract)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953512"/>
            <a:ext cx="29260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0">
                <a:solidFill>
                  <a:srgbClr val="5A6472"/>
                </a:solidFill>
                <a:latin typeface="Segoe UI"/>
              </a:rPr>
              <a:t>Mature platforms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953512"/>
            <a:ext cx="4663440" cy="86868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0">
                <a:solidFill>
                  <a:srgbClr val="C62828"/>
                </a:solidFill>
                <a:latin typeface="Segoe UI"/>
              </a:rPr>
              <a:t>Weak Indic-script accuracy; pay-per-call; no Kannada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41064"/>
            <a:ext cx="3291840" cy="8686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1">
                <a:solidFill>
                  <a:srgbClr val="1A233B"/>
                </a:solidFill>
                <a:latin typeface="Segoe UI"/>
              </a:rPr>
              <a:t>Manual transcription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941064"/>
            <a:ext cx="29260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0">
                <a:solidFill>
                  <a:srgbClr val="5A6472"/>
                </a:solidFill>
                <a:latin typeface="Segoe UI"/>
              </a:rPr>
              <a:t>Accurate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941064"/>
            <a:ext cx="4663440" cy="86868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0">
                <a:solidFill>
                  <a:srgbClr val="C62828"/>
                </a:solidFill>
                <a:latin typeface="Segoe UI"/>
              </a:rPr>
              <a:t>Slow, costly, impossible at archive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28616"/>
            <a:ext cx="3291840" cy="8686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1">
                <a:solidFill>
                  <a:srgbClr val="1A233B"/>
                </a:solidFill>
                <a:latin typeface="Segoe UI"/>
              </a:rPr>
              <a:t>Static PDF text layers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4928616"/>
            <a:ext cx="29260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0">
                <a:solidFill>
                  <a:srgbClr val="5A6472"/>
                </a:solidFill>
                <a:latin typeface="Segoe UI"/>
              </a:rPr>
              <a:t>Searchable if present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4928616"/>
            <a:ext cx="4663440" cy="86868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300" b="0">
                <a:solidFill>
                  <a:srgbClr val="C62828"/>
                </a:solidFill>
                <a:latin typeface="Segoe UI"/>
              </a:rPr>
              <a:t>Useless for photos &amp; image-only scans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43600"/>
            <a:ext cx="11064240" cy="41148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233B"/>
                </a:solidFill>
                <a:latin typeface="Segoe UI"/>
              </a:rPr>
              <a:t>Common gap: nobody verifies the output is actually Kannada — and nobody helps you understand the text afterwards.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ಕನ್ನಡ ಲಿಪಿ ಮಿತ್ರ · Kannada Digital Innovation Hackathon 2026 · PS-05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40"/>
              </a:spcAft>
            </a:pPr>
            <a:r>
              <a:rPr sz="3200" b="1">
                <a:solidFill>
                  <a:srgbClr val="1A233B"/>
                </a:solidFill>
                <a:latin typeface="Segoe UI"/>
              </a:rPr>
              <a:t>How Our Solution Is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" cy="10515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463040"/>
            <a:ext cx="10424160" cy="10515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765"/>
              </a:spcAft>
            </a:pPr>
            <a:r>
              <a:rPr sz="1700" b="1">
                <a:solidFill>
                  <a:srgbClr val="1A233B"/>
                </a:solidFill>
                <a:latin typeface="Segoe UI"/>
              </a:rPr>
              <a:t>Engine-agnostic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019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One OCR Manager routes to Gemini, Groq or fully-offline Tesseract — swap engines by config or per request. No vendor lock-in, no dead end when a quota runs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502920" cy="10515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651760"/>
            <a:ext cx="10424160" cy="10515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24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765"/>
              </a:spcAft>
            </a:pPr>
            <a:r>
              <a:rPr sz="1700" b="1">
                <a:solidFill>
                  <a:srgbClr val="1A233B"/>
                </a:solidFill>
                <a:latin typeface="Segoe UI"/>
              </a:rPr>
              <a:t>Script-distribution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906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Post-extraction Unicode analysis (Kannada / Devanagari / Latin shares) with an automatic targeted retry — catches silent failures traditional OCR never detects.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502920" cy="10515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840480"/>
            <a:ext cx="10424160" cy="10515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13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765"/>
              </a:spcAft>
            </a:pPr>
            <a:r>
              <a:rPr sz="1700" b="1">
                <a:solidFill>
                  <a:srgbClr val="1A233B"/>
                </a:solidFill>
                <a:latin typeface="Segoe UI"/>
              </a:rPr>
              <a:t>Understand + hear, not just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793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One-click translation to English/Hindi and authentic Kannada text-to-speech (browser voice + gTTS fallback) — accessible to non-readers &amp; the visually impaired.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502920" cy="10515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5029200"/>
            <a:ext cx="10424160" cy="10515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102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765"/>
              </a:spcAft>
            </a:pPr>
            <a:r>
              <a:rPr sz="1700" b="1">
                <a:solidFill>
                  <a:srgbClr val="1A233B"/>
                </a:solidFill>
                <a:latin typeface="Segoe UI"/>
              </a:rPr>
              <a:t>Searchable from second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46811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In-text search with live highlighting, editable transcription, copy / TXT export / print-to-PDF — a workstation, not a text box.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ಕನ್ನಡ ಲಿಪಿ ಮಿತ್ರ · Kannada Digital Innovation Hackathon 2026 · PS-05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40"/>
              </a:spcAft>
            </a:pPr>
            <a:r>
              <a:rPr sz="3200" b="1">
                <a:solidFill>
                  <a:srgbClr val="1A233B"/>
                </a:solidFill>
                <a:latin typeface="Segoe UI"/>
              </a:rPr>
              <a:t>Approach — Methodology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606040" cy="9144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Image input
upload · camera · sample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1819656"/>
            <a:ext cx="411480" cy="201168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606040" cy="9144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FastAPI
/api/ocr endpoint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1819656"/>
            <a:ext cx="411480" cy="201168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2606040" cy="9144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UnifiedOCRManager
engine selection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52560" y="1819656"/>
            <a:ext cx="411480" cy="201168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0" y="1463040"/>
            <a:ext cx="2606040" cy="9144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Vision / OCR engine
gemini | groq | tesseract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9320" y="2468880"/>
            <a:ext cx="201168" cy="365760"/>
          </a:xfrm>
          <a:prstGeom prst="down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926080"/>
            <a:ext cx="5029200" cy="86868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233B"/>
                </a:solidFill>
                <a:latin typeface="Segoe UI"/>
              </a:rPr>
              <a:t>Script-distribution check — issue? one smart retry prompt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9320" y="3840480"/>
            <a:ext cx="201168" cy="365760"/>
          </a:xfrm>
          <a:prstGeom prst="down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4297680"/>
            <a:ext cx="5029200" cy="7315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{ text · word/char counts · script stats · engine used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5303520"/>
            <a:ext cx="3108960" cy="9601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Editable pane
search + highlight
copy · TXT · print/PDF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5303520"/>
            <a:ext cx="3108960" cy="9601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Translate API
Kannada → EN / HI
LLM-powered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5303520"/>
            <a:ext cx="3108960" cy="9601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TTS API
Kannada speech
gTTS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95"/>
              </a:spcAft>
            </a:pPr>
            <a:r>
              <a:rPr sz="1100" b="0">
                <a:solidFill>
                  <a:srgbClr val="5A6472"/>
                </a:solidFill>
                <a:latin typeface="Segoe UI"/>
              </a:rPr>
              <a:t>Design decisions: manager pattern (engine = config) · deterministic Unicode validation (cheap, reliable) · same-origin deploy (one URL, zero CORS)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ಕನ್ನಡ ಲಿಪಿ ಮಿತ್ರ · Kannada Digital Innovation Hackathon 2026 · PS-05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40"/>
              </a:spcAft>
            </a:pPr>
            <a:r>
              <a:rPr sz="3200" b="1">
                <a:solidFill>
                  <a:srgbClr val="1A233B"/>
                </a:solidFill>
                <a:latin typeface="Segoe UI"/>
              </a:rP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9748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2697480" cy="31089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Vanilla JS (ES modules)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HTML5 · CSS3 · responsive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Vite 6 build tooling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Web Speech API (TTS)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697480" cy="5486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48840"/>
            <a:ext cx="2697480" cy="31089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317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Python 3.12 · FastAPI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Uvicorn · Pydantic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Pillow · OpenCV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gTTS (lang='kn')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2697480" cy="54864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AI Engines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2697480" cy="31089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Gemini 2.0 Flash (vision LLM)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Groq open vision LLM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Tesseract + OpenCV (offline)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LLM translation EN / 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554480"/>
            <a:ext cx="2697480" cy="5486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DevOps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148840"/>
            <a:ext cx="2697480" cy="31089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3317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Render single web service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render.yaml blueprint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env-var secrets (.env)</a:t>
            </a:r>
          </a:p>
          <a:p>
            <a:pPr algn="l">
              <a:lnSpc>
                <a:spcPct val="105000"/>
              </a:lnSpc>
              <a:spcAft>
                <a:spcPts val="585"/>
              </a:spcAft>
            </a:pPr>
            <a:r>
              <a:rPr sz="1300" b="0">
                <a:solidFill>
                  <a:srgbClr val="242B3D"/>
                </a:solidFill>
                <a:latin typeface="Segoe UI"/>
              </a:rPr>
              <a:t>•  GitHub · Swagger /docs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11064240" cy="59436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B300"/>
                </a:solidFill>
                <a:latin typeface="Segoe UI"/>
              </a:rPr>
              <a:t>One repository · one deployment · runs with API keys OR fully offline on Tesseract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ಕನ್ನಡ ಲಿಪಿ ಮಿತ್ರ · Kannada Digital Innovation Hackathon 2026 · PS-05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40"/>
              </a:spcAft>
            </a:pPr>
            <a:r>
              <a:rPr sz="3200" b="1">
                <a:solidFill>
                  <a:srgbClr val="1A233B"/>
                </a:solidFill>
                <a:latin typeface="Segoe UI"/>
              </a:rPr>
              <a:t>Architecture — Components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10515600" cy="105156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1A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1">
                <a:solidFill>
                  <a:srgbClr val="1A233B"/>
                </a:solidFill>
                <a:latin typeface="Segoe UI"/>
              </a:rPr>
              <a:t>Browser — Split-view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40"/>
              </a:spcAft>
            </a:pPr>
            <a:r>
              <a:rPr sz="1200" b="0">
                <a:solidFill>
                  <a:srgbClr val="242B3D"/>
                </a:solidFill>
                <a:latin typeface="Segoe UI"/>
              </a:rPr>
              <a:t>document image | editable Kannada text · search+highlight · translate · TTS · copy · TXT · print/PDF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606040"/>
            <a:ext cx="201168" cy="320040"/>
          </a:xfrm>
          <a:prstGeom prst="down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95"/>
              </a:spcAft>
            </a:pPr>
            <a:r>
              <a:rPr sz="1100" b="0">
                <a:solidFill>
                  <a:srgbClr val="5A6472"/>
                </a:solidFill>
                <a:latin typeface="Segoe UI"/>
              </a:rPr>
              <a:t>REST: /api/ocr · /api/translate · /api/tts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017520"/>
            <a:ext cx="7589520" cy="64008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FastAPI (main.py) — API endpoints + serves built frontend (same origin)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3749039"/>
            <a:ext cx="201168" cy="320040"/>
          </a:xfrm>
          <a:prstGeom prst="down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4160520"/>
            <a:ext cx="7589520" cy="6400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UnifiedOCRManager — engine selection, readiness checks,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074920"/>
            <a:ext cx="2651760" cy="86868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Gemini 2.0 Flash
multimodal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5074920"/>
            <a:ext cx="2651760" cy="868680"/>
          </a:xfrm>
          <a:prstGeom prst="round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Groq
open vision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5074920"/>
            <a:ext cx="2651760" cy="868680"/>
          </a:xfrm>
          <a:prstGeom prst="roundRect">
            <a:avLst/>
          </a:prstGeom>
          <a:solidFill>
            <a:srgbClr val="5A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Tesseract + OpenCV
offline OCR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5989320"/>
            <a:ext cx="201168" cy="274320"/>
          </a:xfrm>
          <a:prstGeom prst="down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6035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40"/>
              </a:spcAft>
            </a:pPr>
            <a:r>
              <a:rPr sz="1200" b="1">
                <a:solidFill>
                  <a:srgbClr val="1A233B"/>
                </a:solidFill>
                <a:latin typeface="Segoe UI"/>
              </a:rPr>
              <a:t>script validation + retry · translation · gTTS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ಕನ್ನಡ ಲಿಪಿ ಮಿತ್ರ · Kannada Digital Innovation Hackathon 2026 · PS-05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0">
                <a:solidFill>
                  <a:srgbClr val="242B3D"/>
                </a:solidFill>
                <a:latin typeface="Segoe U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40"/>
              </a:spcAft>
            </a:pPr>
            <a:r>
              <a:rPr sz="3200" b="1">
                <a:solidFill>
                  <a:srgbClr val="1A233B"/>
                </a:solidFill>
                <a:latin typeface="Segoe UI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2000" b="1">
                <a:solidFill>
                  <a:srgbClr val="C62828"/>
                </a:solidFill>
                <a:latin typeface="Segoe U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Any Kannada document image becomes text you can search, edit, hear, translate and share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Validation layer delivers trustworthy output where traditional OCR silently fails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Engine-agnostic core runs on free LLM quotas today — or fully offline for zero-cost deployments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Directly fulfils PS-05: searchable digital text + easier to understand and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2000" b="1">
                <a:solidFill>
                  <a:srgbClr val="C62828"/>
                </a:solidFill>
                <a:latin typeface="Segoe UI"/>
              </a:rP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Batch PDF ingestion with page-wise OCR and bulk export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On-device fine-tuned IndicOCR model for offline handwriting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Kannada → Latin transliteration and dual-script reading mode</a:t>
            </a:r>
          </a:p>
          <a:p>
            <a:pPr algn="l">
              <a:lnSpc>
                <a:spcPct val="100000"/>
              </a:lnSpc>
              <a:spcAft>
                <a:spcPts val="675"/>
              </a:spcAft>
            </a:pPr>
            <a:r>
              <a:rPr sz="1500" b="0">
                <a:solidFill>
                  <a:srgbClr val="242B3D"/>
                </a:solidFill>
                <a:latin typeface="Segoe UI"/>
              </a:rPr>
              <a:t>•  Screen-reader-optimized accessibility mode for low-vision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97880"/>
            <a:ext cx="11064240" cy="502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B300"/>
                </a:solidFill>
                <a:latin typeface="Segoe UI"/>
              </a:rPr>
              <a:t>Code. Create. Celebrate Kannada.  ·  ಧನ್ಯವಾದಗಳು  ·  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ಕನ್ನಡ ಲಿಪಿ ಮಿತ್ರ · Kannada Digital Innovation Hackathon 2026 · PS-05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5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